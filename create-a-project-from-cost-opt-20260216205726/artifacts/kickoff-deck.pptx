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</p:sldMasterIdLst>
  <p:notesMasterIdLst>
    <p:notesMasterId r:id="rId14"/>
  </p:notesMasterIdLst>
  <p:handoutMasterIdLst>
    <p:handoutMasterId r:id="rId15"/>
  </p:handoutMasterIdLst>
  <p:sldIdLst>
    <p:sldId id="517" r:id="rId5"/>
    <p:sldId id="898" r:id="rId6"/>
    <p:sldId id="867" r:id="rId7"/>
    <p:sldId id="854" r:id="rId8"/>
    <p:sldId id="900" r:id="rId9"/>
    <p:sldId id="866" r:id="rId10"/>
    <p:sldId id="858" r:id="rId11"/>
    <p:sldId id="859" r:id="rId12"/>
    <p:sldId id="554" r:id="rId13"/>
    <p:sldId id="901" r:id="rId35"/>
    <p:sldId id="902" r:id="rId36"/>
    <p:sldId id="903" r:id="rId37"/>
    <p:sldId id="904" r:id="rId38"/>
  </p:sldIdLst>
  <p:sldSz cx="12192000" cy="6858000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Bold" panose="020B0604020202020204" charset="0"/>
      <p:bold r:id="rId20"/>
    </p:embeddedFont>
    <p:embeddedFont>
      <p:font typeface="Roboto Condensed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italic r:id="rId26"/>
    </p:embeddedFont>
    <p:embeddedFont>
      <p:font typeface="Roboto SemiBold" panose="020B0604020202020204" charset="0"/>
      <p:bold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98"/>
            <p14:sldId id="867"/>
            <p14:sldId id="854"/>
            <p14:sldId id="900"/>
            <p14:sldId id="866"/>
            <p14:sldId id="858"/>
            <p14:sldId id="859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EE"/>
    <a:srgbClr val="F27242"/>
    <a:srgbClr val="F5F5FA"/>
    <a:srgbClr val="E85D3D"/>
    <a:srgbClr val="ED673F"/>
    <a:srgbClr val="E1F2FE"/>
    <a:srgbClr val="E6E6F2"/>
    <a:srgbClr val="EBEBF5"/>
    <a:srgbClr val="FFFFFF"/>
    <a:srgbClr val="2046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162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modSld">
      <pc:chgData name="Victor Mushkatin" userId="477e917c-2c56-40a2-8217-2c18f48381cf" providerId="ADAL" clId="{EF01442C-DAAA-4D21-B1C0-B861AC057066}" dt="2026-02-11T16:39:22.065" v="98" actId="1076"/>
      <pc:docMkLst>
        <pc:docMk/>
      </pc:docMkLst>
      <pc:sldChg chg="modSp mod">
        <pc:chgData name="Victor Mushkatin" userId="477e917c-2c56-40a2-8217-2c18f48381cf" providerId="ADAL" clId="{EF01442C-DAAA-4D21-B1C0-B861AC057066}" dt="2026-02-11T16:39:22.065" v="98" actId="1076"/>
        <pc:sldMkLst>
          <pc:docMk/>
          <pc:sldMk cId="3011031008" sldId="854"/>
        </pc:sldMkLst>
        <pc:spChg chg="mod">
          <ac:chgData name="Victor Mushkatin" userId="477e917c-2c56-40a2-8217-2c18f48381cf" providerId="ADAL" clId="{EF01442C-DAAA-4D21-B1C0-B861AC057066}" dt="2026-02-11T16:39:22.065" v="98" actId="1076"/>
          <ac:spMkLst>
            <pc:docMk/>
            <pc:sldMk cId="3011031008" sldId="854"/>
            <ac:spMk id="8" creationId="{E15BAB81-0FF2-CECB-3A1E-DB29A2FA86A4}"/>
          </ac:spMkLst>
        </pc:spChg>
        <pc:grpChg chg="mod">
          <ac:chgData name="Victor Mushkatin" userId="477e917c-2c56-40a2-8217-2c18f48381cf" providerId="ADAL" clId="{EF01442C-DAAA-4D21-B1C0-B861AC057066}" dt="2026-02-11T16:39:16.555" v="97" actId="1076"/>
          <ac:grpSpMkLst>
            <pc:docMk/>
            <pc:sldMk cId="3011031008" sldId="854"/>
            <ac:grpSpMk id="11" creationId="{6338987C-23B1-FE08-EBF7-78310C6EB800}"/>
          </ac:grpSpMkLst>
        </pc:grpChg>
        <pc:grpChg chg="mod">
          <ac:chgData name="Victor Mushkatin" userId="477e917c-2c56-40a2-8217-2c18f48381cf" providerId="ADAL" clId="{EF01442C-DAAA-4D21-B1C0-B861AC057066}" dt="2026-02-11T16:39:22.065" v="98" actId="1076"/>
          <ac:grpSpMkLst>
            <pc:docMk/>
            <pc:sldMk cId="3011031008" sldId="854"/>
            <ac:grpSpMk id="13" creationId="{77FEE79E-83AE-E124-29E0-55CD2904DABC}"/>
          </ac:grpSpMkLst>
        </pc:grpChg>
        <pc:picChg chg="mod">
          <ac:chgData name="Victor Mushkatin" userId="477e917c-2c56-40a2-8217-2c18f48381cf" providerId="ADAL" clId="{EF01442C-DAAA-4D21-B1C0-B861AC057066}" dt="2026-02-11T16:39:22.065" v="98" actId="1076"/>
          <ac:picMkLst>
            <pc:docMk/>
            <pc:sldMk cId="3011031008" sldId="854"/>
            <ac:picMk id="10" creationId="{FA4A7198-9DDB-037E-8A84-19E62CBB35F6}"/>
          </ac:picMkLst>
        </pc:picChg>
      </pc:sldChg>
      <pc:sldChg chg="delSp modSp mod">
        <pc:chgData name="Victor Mushkatin" userId="477e917c-2c56-40a2-8217-2c18f48381cf" providerId="ADAL" clId="{EF01442C-DAAA-4D21-B1C0-B861AC057066}" dt="2026-02-11T16:38:46.063" v="93" actId="20577"/>
        <pc:sldMkLst>
          <pc:docMk/>
          <pc:sldMk cId="2373395902" sldId="867"/>
        </pc:sldMkLst>
        <pc:spChg chg="del mod">
          <ac:chgData name="Victor Mushkatin" userId="477e917c-2c56-40a2-8217-2c18f48381cf" providerId="ADAL" clId="{EF01442C-DAAA-4D21-B1C0-B861AC057066}" dt="2026-02-11T16:38:13.821" v="78" actId="478"/>
          <ac:spMkLst>
            <pc:docMk/>
            <pc:sldMk cId="2373395902" sldId="867"/>
            <ac:spMk id="10" creationId="{162084C0-ECDD-6BD7-8BCB-56FE68CC3202}"/>
          </ac:spMkLst>
        </pc:spChg>
        <pc:spChg chg="mod">
          <ac:chgData name="Victor Mushkatin" userId="477e917c-2c56-40a2-8217-2c18f48381cf" providerId="ADAL" clId="{EF01442C-DAAA-4D21-B1C0-B861AC057066}" dt="2026-02-11T16:37:51.266" v="69" actId="1076"/>
          <ac:spMkLst>
            <pc:docMk/>
            <pc:sldMk cId="2373395902" sldId="867"/>
            <ac:spMk id="11" creationId="{22A7CD4D-0A14-C3FA-A0BC-10FE8E12CB40}"/>
          </ac:spMkLst>
        </pc:spChg>
        <pc:spChg chg="mod">
          <ac:chgData name="Victor Mushkatin" userId="477e917c-2c56-40a2-8217-2c18f48381cf" providerId="ADAL" clId="{EF01442C-DAAA-4D21-B1C0-B861AC057066}" dt="2026-02-11T16:38:27.625" v="82" actId="1076"/>
          <ac:spMkLst>
            <pc:docMk/>
            <pc:sldMk cId="2373395902" sldId="867"/>
            <ac:spMk id="32" creationId="{ACF47DC2-7697-C465-CA46-987F6D78A98B}"/>
          </ac:spMkLst>
        </pc:spChg>
        <pc:spChg chg="mod">
          <ac:chgData name="Victor Mushkatin" userId="477e917c-2c56-40a2-8217-2c18f48381cf" providerId="ADAL" clId="{EF01442C-DAAA-4D21-B1C0-B861AC057066}" dt="2026-02-11T16:38:38.106" v="91" actId="14100"/>
          <ac:spMkLst>
            <pc:docMk/>
            <pc:sldMk cId="2373395902" sldId="867"/>
            <ac:spMk id="33" creationId="{5A14188D-FA17-5B9A-E36D-CAAC34F2FCA9}"/>
          </ac:spMkLst>
        </pc:spChg>
        <pc:spChg chg="mod">
          <ac:chgData name="Victor Mushkatin" userId="477e917c-2c56-40a2-8217-2c18f48381cf" providerId="ADAL" clId="{EF01442C-DAAA-4D21-B1C0-B861AC057066}" dt="2026-02-11T16:38:46.063" v="93" actId="20577"/>
          <ac:spMkLst>
            <pc:docMk/>
            <pc:sldMk cId="2373395902" sldId="867"/>
            <ac:spMk id="44" creationId="{8BB62D15-66AB-F2B1-B552-F50AC4B29F71}"/>
          </ac:spMkLst>
        </pc:spChg>
        <pc:picChg chg="mod">
          <ac:chgData name="Victor Mushkatin" userId="477e917c-2c56-40a2-8217-2c18f48381cf" providerId="ADAL" clId="{EF01442C-DAAA-4D21-B1C0-B861AC057066}" dt="2026-02-11T16:38:16.942" v="79" actId="1076"/>
          <ac:picMkLst>
            <pc:docMk/>
            <pc:sldMk cId="2373395902" sldId="867"/>
            <ac:picMk id="2" creationId="{35C36B66-2CF7-39FF-9E49-8CF707FB1665}"/>
          </ac:picMkLst>
        </pc:picChg>
      </pc:sldChg>
      <pc:sldChg chg="modSp mod">
        <pc:chgData name="Victor Mushkatin" userId="477e917c-2c56-40a2-8217-2c18f48381cf" providerId="ADAL" clId="{EF01442C-DAAA-4D21-B1C0-B861AC057066}" dt="2026-02-11T16:33:23.558" v="1" actId="20577"/>
        <pc:sldMkLst>
          <pc:docMk/>
          <pc:sldMk cId="3973657081" sldId="898"/>
        </pc:sldMkLst>
        <pc:spChg chg="mod">
          <ac:chgData name="Victor Mushkatin" userId="477e917c-2c56-40a2-8217-2c18f48381cf" providerId="ADAL" clId="{EF01442C-DAAA-4D21-B1C0-B861AC057066}" dt="2026-02-11T16:33:23.558" v="1" actId="20577"/>
          <ac:spMkLst>
            <pc:docMk/>
            <pc:sldMk cId="3973657081" sldId="898"/>
            <ac:spMk id="3" creationId="{65288278-67FC-4726-A695-1D860AF79A54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vboxcloud.com/" TargetMode="External"/></Relationships>
</file>

<file path=ppt/slideLayouts/slideLayout1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Leader title or presenter name</a:t>
            </a:r>
            <a:endParaRPr lang="en-Z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AB6E5D6-2A7B-CA04-995C-4DBE0352D5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217" y="449565"/>
            <a:ext cx="472505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55507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0" name="Picture 9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0EBFB20-C99A-8234-352C-754B2B7872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499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Tertiary Section Intro</a:t>
            </a:r>
            <a:endParaRPr lang="en-ZA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Name of expert or presenter of section</a:t>
            </a:r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EF5B21BB-78B5-A42D-F4CB-F671EBE36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Title of the Slide</a:t>
            </a:r>
            <a:endParaRPr lang="en-ZA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Two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Three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Four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33F5765-F62D-5D74-AB2D-D7F02B229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pic>
        <p:nvPicPr>
          <p:cNvPr id="13" name="Picture 1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A812C701-6E29-F57B-375F-46A9082B85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No Eyebrow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B1D86BB4-AEA0-A291-0377-1907BA8104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a14="http://schemas.microsoft.com/office/drawing/2010/main" xmlns:ahyp="http://schemas.microsoft.com/office/drawing/2018/hyperlinkcolor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545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89CC15-87C1-763D-1E6D-FA764FEC1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608304"/>
            <a:ext cx="10515600" cy="1553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13" name="Title Placeholder 6">
            <a:extLst>
              <a:ext uri="{FF2B5EF4-FFF2-40B4-BE49-F238E27FC236}">
                <a16:creationId xmlns:a16="http://schemas.microsoft.com/office/drawing/2014/main" id="{41616FDA-E256-79E7-974A-B4B2391F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16296"/>
            <a:ext cx="10515600" cy="55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671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43" r:id="rId3"/>
    <p:sldLayoutId id="2147483844" r:id="rId4"/>
    <p:sldLayoutId id="2147483845" r:id="rId5"/>
    <p:sldLayoutId id="2147483785" r:id="rId6"/>
    <p:sldLayoutId id="2147483846" r:id="rId7"/>
    <p:sldLayoutId id="2147483842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u="sng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pl-PL" sz="4800" spc="50" dirty="0">
                <a:latin typeface="Roboto"/>
                <a:ea typeface="Roboto"/>
                <a:cs typeface="Roboto"/>
              </a:rPr>
              <a:t>Azure Cost</a:t>
            </a:r>
            <a:br>
              <a:rPr lang="en-US" sz="4800" spc="50" dirty="0"/>
            </a:br>
            <a:r>
              <a:rPr lang="en-US" sz="4800" spc="50" dirty="0">
                <a:latin typeface="Roboto"/>
                <a:ea typeface="Roboto"/>
                <a:cs typeface="Roboto"/>
              </a:rPr>
              <a:t>Implementation</a:t>
            </a:r>
            <a:r>
              <a:rPr lang="pl-PL" sz="4800" spc="50" dirty="0">
                <a:latin typeface="Roboto"/>
                <a:ea typeface="Roboto"/>
                <a:cs typeface="Roboto"/>
              </a:rPr>
              <a:t> Kickoff</a:t>
            </a:r>
          </a:p>
        </p:txBody>
      </p:sp>
      <p:pic>
        <p:nvPicPr>
          <p:cNvPr id="3" name="Picture 2" descr="customerLogo">
            <a:extLst>
              <a:ext uri="{FF2B5EF4-FFF2-40B4-BE49-F238E27FC236}">
                <a16:creationId xmlns:a16="http://schemas.microsoft.com/office/drawing/2014/main" id="{C3A286AA-3257-395E-B27A-10B5B1ABC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45" y="757382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88D50D-BBDA-E32A-DBDC-F8133E23F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8735748" cy="461665"/>
          </a:xfrm>
        </p:spPr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88278-67FC-4726-A695-1D860AF79A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363379" cy="246221"/>
          </a:xfrm>
        </p:spPr>
        <p:txBody>
          <a:bodyPr>
            <a:normAutofit/>
          </a:bodyPr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  <a:p>
            <a:endParaRPr lang="en-US" sz="1600" spc="50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65402B04-869E-7823-913A-E5DA96EB98B3}"/>
              </a:ext>
            </a:extLst>
          </p:cNvPr>
          <p:cNvSpPr txBox="1">
            <a:spLocks/>
          </p:cNvSpPr>
          <p:nvPr/>
        </p:nvSpPr>
        <p:spPr>
          <a:xfrm>
            <a:off x="730240" y="1877853"/>
            <a:ext cx="10666766" cy="2046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B33358-2E64-FE70-7933-3E50BB6C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1645"/>
            <a:ext cx="184731" cy="40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98DE3-4C9F-9321-A06E-14CC0E2B2C71}"/>
              </a:ext>
            </a:extLst>
          </p:cNvPr>
          <p:cNvSpPr txBox="1"/>
          <p:nvPr/>
        </p:nvSpPr>
        <p:spPr>
          <a:xfrm>
            <a:off x="308824" y="2397948"/>
            <a:ext cx="1132884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US" sz="3200" dirty="0"/>
              <a:t>Reduce Azure Cost by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</a:t>
            </a:r>
            <a:r>
              <a:rPr lang="en-US" sz="3200" dirty="0"/>
              <a:t>removing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Orphaned resources</a:t>
            </a:r>
            <a:r>
              <a:rPr lang="en-US" sz="3200" dirty="0">
                <a:solidFill>
                  <a:schemeClr val="accent1"/>
                </a:solidFill>
              </a:rPr>
              <a:t>,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</a:t>
            </a:r>
            <a:r>
              <a:rPr lang="en-US" sz="3200" dirty="0"/>
              <a:t>implementing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Rightsizing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and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	 </a:t>
            </a:r>
            <a:r>
              <a:rPr lang="en-US" sz="3200" b="1" dirty="0">
                <a:solidFill>
                  <a:schemeClr val="accent1"/>
                </a:solidFill>
              </a:rPr>
              <a:t>Suboptimal pricing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strategies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3657081"/>
      </p:ext>
    </p:extLst>
  </p:cSld>
  <p:clrMapOvr>
    <a:masterClrMapping/>
  </p:clrMapOvr>
</p:sld>
</file>

<file path=ppt/slides/slide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9CE03-717A-B6F0-774B-4DD755B299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4070" y="0"/>
            <a:ext cx="6147929" cy="64103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5"/>
            <a:ext cx="2807007" cy="463860"/>
          </a:xfrm>
        </p:spPr>
        <p:txBody>
          <a:bodyPr/>
          <a:lstStyle/>
          <a:p>
            <a:r>
              <a:rPr lang="en-ZA"/>
              <a:t>Meet the Team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5"/>
            <a:ext cx="2928827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F47DC2-7697-C465-CA46-987F6D78A98B}"/>
              </a:ext>
            </a:extLst>
          </p:cNvPr>
          <p:cNvSpPr/>
          <p:nvPr/>
        </p:nvSpPr>
        <p:spPr>
          <a:xfrm>
            <a:off x="7515547" y="2091463"/>
            <a:ext cx="3048771" cy="326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A14188D-FA17-5B9A-E36D-CAAC34F2FCA9}"/>
              </a:ext>
            </a:extLst>
          </p:cNvPr>
          <p:cNvSpPr txBox="1">
            <a:spLocks/>
          </p:cNvSpPr>
          <p:nvPr/>
        </p:nvSpPr>
        <p:spPr>
          <a:xfrm>
            <a:off x="7515547" y="2106702"/>
            <a:ext cx="3048771" cy="280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1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A. Datum Corporation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2A7CD4D-0A14-C3FA-A0BC-10FE8E12CB40}"/>
              </a:ext>
            </a:extLst>
          </p:cNvPr>
          <p:cNvSpPr txBox="1">
            <a:spLocks/>
          </p:cNvSpPr>
          <p:nvPr/>
        </p:nvSpPr>
        <p:spPr>
          <a:xfrm>
            <a:off x="1029813" y="3152001"/>
            <a:ext cx="343054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Victor Mushkatin</a:t>
            </a:r>
          </a:p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vmushkatin@vboxcloud.com</a:t>
            </a:r>
            <a:endParaRPr lang="en-ZA" sz="1800" b="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8BB62D15-66AB-F2B1-B552-F50AC4B29F71}"/>
              </a:ext>
            </a:extLst>
          </p:cNvPr>
          <p:cNvSpPr txBox="1">
            <a:spLocks/>
          </p:cNvSpPr>
          <p:nvPr/>
        </p:nvSpPr>
        <p:spPr>
          <a:xfrm>
            <a:off x="7732291" y="3013501"/>
            <a:ext cx="261528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highlight>
                  <a:srgbClr val="FFFF00"/>
                </a:highlight>
                <a:latin typeface="Roboto SemiBold" panose="02000000000000000000" pitchFamily="2" charset="0"/>
                <a:ea typeface="Roboto SemiBold" panose="02000000000000000000" pitchFamily="2" charset="0"/>
              </a:rPr>
              <a:t>&lt;Customer team&gt;</a:t>
            </a:r>
            <a:endParaRPr lang="en-ZA" sz="1800" b="0" dirty="0">
              <a:highlight>
                <a:srgbClr val="FFFF00"/>
              </a:highlight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5C36B66-2CF7-39FF-9E49-8CF707FB1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82" y="1586396"/>
            <a:ext cx="1837413" cy="866844"/>
          </a:xfrm>
          <a:prstGeom prst="rect">
            <a:avLst/>
          </a:prstGeom>
        </p:spPr>
      </p:pic>
      <p:pic>
        <p:nvPicPr>
          <p:cNvPr id="9" name="Picture 8" descr="customerLogo">
            <a:extLst>
              <a:ext uri="{FF2B5EF4-FFF2-40B4-BE49-F238E27FC236}">
                <a16:creationId xmlns:a16="http://schemas.microsoft.com/office/drawing/2014/main" id="{5019BABA-C1C4-E0B7-99EB-E96A5F16F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371" y="54357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95902"/>
      </p:ext>
    </p:extLst>
  </p:cSld>
  <p:clrMapOvr>
    <a:masterClrMapping/>
  </p:clrMapOvr>
</p:sld>
</file>

<file path=ppt/slides/slide4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/>
              <a:t>Agenda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2928827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  <a:p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50893" y="3739014"/>
            <a:ext cx="1569466" cy="64725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  <a:t>ROB &amp; Timeline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4687" y="2666286"/>
            <a:ext cx="801878" cy="80187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213ECBD-E070-A9DB-6184-4B49D95C0304}"/>
              </a:ext>
            </a:extLst>
          </p:cNvPr>
          <p:cNvGrpSpPr/>
          <p:nvPr/>
        </p:nvGrpSpPr>
        <p:grpSpPr>
          <a:xfrm>
            <a:off x="1743865" y="2750351"/>
            <a:ext cx="1322030" cy="1728669"/>
            <a:chOff x="1361093" y="2734779"/>
            <a:chExt cx="1322030" cy="1728669"/>
          </a:xfrm>
        </p:grpSpPr>
        <p:sp>
          <p:nvSpPr>
            <p:cNvPr id="2" name="Text Placeholder 7">
              <a:extLst>
                <a:ext uri="{FF2B5EF4-FFF2-40B4-BE49-F238E27FC236}">
                  <a16:creationId xmlns:a16="http://schemas.microsoft.com/office/drawing/2014/main" id="{CCB647F7-1305-181E-B0F3-76CFEFD312BA}"/>
                </a:ext>
              </a:extLst>
            </p:cNvPr>
            <p:cNvSpPr txBox="1">
              <a:spLocks/>
            </p:cNvSpPr>
            <p:nvPr/>
          </p:nvSpPr>
          <p:spPr>
            <a:xfrm>
              <a:off x="1361093" y="3705682"/>
              <a:ext cx="1322030" cy="7577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Meet the Team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2B6AC8F-6D4F-E194-93B8-E99B0C12F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16914" y="2734779"/>
              <a:ext cx="810388" cy="75776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38987C-23B1-FE08-EBF7-78310C6EB800}"/>
              </a:ext>
            </a:extLst>
          </p:cNvPr>
          <p:cNvGrpSpPr/>
          <p:nvPr/>
        </p:nvGrpSpPr>
        <p:grpSpPr>
          <a:xfrm>
            <a:off x="3594129" y="2859820"/>
            <a:ext cx="1577514" cy="1526444"/>
            <a:chOff x="3248825" y="2638774"/>
            <a:chExt cx="1577514" cy="1526444"/>
          </a:xfrm>
        </p:grpSpPr>
        <p:sp>
          <p:nvSpPr>
            <p:cNvPr id="3" name="Text Placeholder 7">
              <a:extLst>
                <a:ext uri="{FF2B5EF4-FFF2-40B4-BE49-F238E27FC236}">
                  <a16:creationId xmlns:a16="http://schemas.microsoft.com/office/drawing/2014/main" id="{E1295A58-95F6-37F7-877F-07BFE9C53784}"/>
                </a:ext>
              </a:extLst>
            </p:cNvPr>
            <p:cNvSpPr txBox="1">
              <a:spLocks/>
            </p:cNvSpPr>
            <p:nvPr/>
          </p:nvSpPr>
          <p:spPr>
            <a:xfrm>
              <a:off x="3248825" y="3705682"/>
              <a:ext cx="1577514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Scoping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24AB8A2-F473-2D7E-A0A0-1862EB98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26665" y="2638774"/>
              <a:ext cx="821834" cy="821834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C5C79D-E3DB-5335-3CB9-3671C4CDEA61}"/>
              </a:ext>
            </a:extLst>
          </p:cNvPr>
          <p:cNvGrpSpPr/>
          <p:nvPr/>
        </p:nvGrpSpPr>
        <p:grpSpPr>
          <a:xfrm>
            <a:off x="9507857" y="2859820"/>
            <a:ext cx="914402" cy="1338222"/>
            <a:chOff x="9463407" y="2844248"/>
            <a:chExt cx="914402" cy="1338222"/>
          </a:xfrm>
        </p:grpSpPr>
        <p:sp>
          <p:nvSpPr>
            <p:cNvPr id="5" name="Text Placeholder 7">
              <a:extLst>
                <a:ext uri="{FF2B5EF4-FFF2-40B4-BE49-F238E27FC236}">
                  <a16:creationId xmlns:a16="http://schemas.microsoft.com/office/drawing/2014/main" id="{77FF8169-2521-3577-594F-B9539DF1C9D0}"/>
                </a:ext>
              </a:extLst>
            </p:cNvPr>
            <p:cNvSpPr txBox="1">
              <a:spLocks/>
            </p:cNvSpPr>
            <p:nvPr/>
          </p:nvSpPr>
          <p:spPr>
            <a:xfrm>
              <a:off x="9506632" y="3722934"/>
              <a:ext cx="827952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Q&amp;A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23532D7-5C16-21DC-2E0A-AC04542B0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63407" y="2844248"/>
              <a:ext cx="914402" cy="62285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FEE79E-83AE-E124-29E0-55CD2904DABC}"/>
              </a:ext>
            </a:extLst>
          </p:cNvPr>
          <p:cNvGrpSpPr/>
          <p:nvPr/>
        </p:nvGrpSpPr>
        <p:grpSpPr>
          <a:xfrm>
            <a:off x="7255787" y="2666286"/>
            <a:ext cx="1716262" cy="1719978"/>
            <a:chOff x="7433499" y="2632954"/>
            <a:chExt cx="1716262" cy="1719978"/>
          </a:xfrm>
        </p:grpSpPr>
        <p:sp>
          <p:nvSpPr>
            <p:cNvPr id="4" name="Text Placeholder 7">
              <a:extLst>
                <a:ext uri="{FF2B5EF4-FFF2-40B4-BE49-F238E27FC236}">
                  <a16:creationId xmlns:a16="http://schemas.microsoft.com/office/drawing/2014/main" id="{0FB2AA00-A54A-3126-00B0-1BDDE0E43A78}"/>
                </a:ext>
              </a:extLst>
            </p:cNvPr>
            <p:cNvSpPr txBox="1">
              <a:spLocks/>
            </p:cNvSpPr>
            <p:nvPr/>
          </p:nvSpPr>
          <p:spPr>
            <a:xfrm>
              <a:off x="7433499" y="3705682"/>
              <a:ext cx="1716262" cy="6472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</a:t>
              </a:r>
              <a:r>
                <a:rPr lang="en-US" err="1">
                  <a:latin typeface="Roboto Medium" panose="02000000000000000000" pitchFamily="2" charset="0"/>
                  <a:ea typeface="Roboto Medium" panose="02000000000000000000" pitchFamily="2" charset="0"/>
                </a:rPr>
                <a:t>vBox</a:t>
              </a: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Access &amp; Demo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D990C5B-3990-FB4C-9F2C-64F0E9A05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887440" y="2632954"/>
              <a:ext cx="808380" cy="764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A89127-4A32-E973-EE96-770AD73E6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5444E-5244-8C95-7BB5-17CD79957C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EFA18-4A69-0A2B-BE10-8C91D4D43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2252498"/>
            <a:ext cx="1015506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17035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4530270" cy="461665"/>
          </a:xfrm>
        </p:spPr>
        <p:txBody>
          <a:bodyPr/>
          <a:lstStyle/>
          <a:p>
            <a:r>
              <a:rPr lang="en-ZA"/>
              <a:t>ROB &amp; Timeline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057164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5965" y="2166235"/>
            <a:ext cx="8304569" cy="32897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Duration: 8 weeks engagement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Rhythm of Business (ROB):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On-boarding call/vBox setup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Kick off call/user on-boarding + program overview + initial scope definition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Weekly execution calls (6) to identify areas for improvement, assign tasks for customer team to execute on and review execution progress/blockers: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1: Kick-off meeting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2-5: Recommendations overview 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6-7: Address customer’s special requests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8: Project Results Review</a:t>
            </a:r>
            <a:endParaRPr lang="en-US" dirty="0">
              <a:ea typeface="Roboto"/>
              <a:cs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0B0B98-9D15-FD65-3BB0-B885266880FA}"/>
              </a:ext>
            </a:extLst>
          </p:cNvPr>
          <p:cNvSpPr/>
          <p:nvPr/>
        </p:nvSpPr>
        <p:spPr>
          <a:xfrm>
            <a:off x="536268" y="1781175"/>
            <a:ext cx="11160432" cy="4059920"/>
          </a:xfrm>
          <a:prstGeom prst="roundRect">
            <a:avLst>
              <a:gd name="adj" fmla="val 7895"/>
            </a:avLst>
          </a:prstGeom>
          <a:noFill/>
          <a:ln w="28575">
            <a:solidFill>
              <a:srgbClr val="DE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0320062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edium" panose="02000000000000000000" pitchFamily="2" charset="0"/>
              </a:rPr>
              <a:t>vBox on-boarding and scope review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3041121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5917" y="1703217"/>
            <a:ext cx="6531282" cy="4258827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Onboard vBox (if not done)</a:t>
            </a:r>
            <a:r>
              <a:rPr lang="pl-PL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 </a:t>
            </a:r>
            <a:endParaRPr lang="en-US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dirty="0"/>
              <a:t>Enable PAL (Partner Admin Link) 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Deploy Azure Optimization Assessment Offer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Delegate Reader Role</a:t>
            </a:r>
            <a:br>
              <a:rPr lang="en-US" dirty="0"/>
            </a:br>
            <a:endParaRPr lang="en-US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User access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Users Emails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Accept consent</a:t>
            </a:r>
          </a:p>
          <a:p>
            <a:pPr lvl="1"/>
            <a:endParaRPr lang="pl-PL" sz="1800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Scope review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Cost Assessment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Recommendations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/>
              <a:t>Initial Task </a:t>
            </a:r>
            <a:r>
              <a:rPr lang="en-US" sz="1800" dirty="0"/>
              <a:t>Assignment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79F2BC-E858-8B25-63F7-C9A7A3ED536C}"/>
              </a:ext>
            </a:extLst>
          </p:cNvPr>
          <p:cNvCxnSpPr/>
          <p:nvPr/>
        </p:nvCxnSpPr>
        <p:spPr>
          <a:xfrm>
            <a:off x="849611" y="1526258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B3860C-7740-2CF1-F6A7-13A0081FCF67}"/>
              </a:ext>
            </a:extLst>
          </p:cNvPr>
          <p:cNvCxnSpPr/>
          <p:nvPr/>
        </p:nvCxnSpPr>
        <p:spPr>
          <a:xfrm>
            <a:off x="1000440" y="3083939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AE279-FE79-77C6-9703-7BE4E141B26B}"/>
              </a:ext>
            </a:extLst>
          </p:cNvPr>
          <p:cNvCxnSpPr/>
          <p:nvPr/>
        </p:nvCxnSpPr>
        <p:spPr>
          <a:xfrm>
            <a:off x="1000440" y="4427554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D95189-33D9-54C2-AE07-86BA02F4BC2F}"/>
              </a:ext>
            </a:extLst>
          </p:cNvPr>
          <p:cNvCxnSpPr/>
          <p:nvPr/>
        </p:nvCxnSpPr>
        <p:spPr>
          <a:xfrm>
            <a:off x="849611" y="6007115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378131"/>
      </p:ext>
    </p:extLst>
  </p:cSld>
  <p:clrMapOvr>
    <a:masterClrMapping/>
  </p:clrMapOvr>
</p:sld>
</file>

<file path=ppt/slides/slide8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5E5F2E-88BE-A944-ABC0-75F2C261456A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/>
              <a:t>Q&amp;A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3419" y="2659354"/>
            <a:ext cx="2477399" cy="676276"/>
          </a:xfrm>
        </p:spPr>
        <p:txBody>
          <a:bodyPr>
            <a:noAutofit/>
          </a:bodyPr>
          <a:lstStyle/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Weekly Meetings </a:t>
            </a:r>
            <a:r>
              <a:rPr lang="pl-PL" sz="2200">
                <a:latin typeface="Roboto Medium" panose="02000000000000000000" pitchFamily="2" charset="0"/>
                <a:ea typeface="Roboto Medium" panose="02000000000000000000" pitchFamily="2" charset="0"/>
              </a:rPr>
              <a:t>schedule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848399"/>
            <a:ext cx="4201424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D9D8F4F-BA2E-CF70-F1BE-CFBAD2753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6235" y="1779390"/>
            <a:ext cx="811766" cy="778856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62F8F0-D431-6BAE-2063-A9D3C36C75CD}"/>
              </a:ext>
            </a:extLst>
          </p:cNvPr>
          <p:cNvSpPr txBox="1">
            <a:spLocks/>
          </p:cNvSpPr>
          <p:nvPr/>
        </p:nvSpPr>
        <p:spPr>
          <a:xfrm>
            <a:off x="8251383" y="2659354"/>
            <a:ext cx="2477399" cy="676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PTO/Holidays</a:t>
            </a:r>
            <a:endParaRPr lang="pl-PL" sz="220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8CFFEE7-BD3E-1C44-BCD8-35B35ACD2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4199" y="1779390"/>
            <a:ext cx="811766" cy="7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/>
              <a:t>Visit our site to learn more:</a:t>
            </a:r>
            <a:endParaRPr lang="en-ZA" spc="1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Meeting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Date: Meeting with Andrey Kerchin</a:t>
            </a:r>
          </a:p>
          <a:p>
            <a:pPr>
              <a:defRPr sz="1800"/>
            </a:pPr>
            <a:r>
              <a:t>Topic: Kickoff Meeting</a:t>
            </a:r>
          </a:p>
          <a:p>
            <a:pPr>
              <a:defRPr sz="1800"/>
            </a:pPr>
            <a:r>
              <a:t>Participants:</a:t>
            </a:r>
          </a:p>
          <a:p>
            <a:pPr lvl="1">
              <a:defRPr sz="1800"/>
            </a:pPr>
            <a:r>
              <a:t>Andrey Kerchin</a:t>
            </a:r>
          </a:p>
          <a:p>
            <a:pPr>
              <a:defRPr sz="1800"/>
            </a:pPr>
            <a:r>
              <a:t>Key Points:</a:t>
            </a:r>
          </a:p>
          <a:p>
            <a:pPr lvl="1">
              <a:defRPr sz="1800"/>
            </a:pPr>
            <a:r>
              <a:t>Communication check performed</a:t>
            </a:r>
          </a:p>
          <a:p>
            <a:pPr lvl="1">
              <a:defRPr sz="1800"/>
            </a:pPr>
            <a:r>
              <a:t>Meeting initialization and setup</a:t>
            </a:r>
          </a:p>
          <a:p>
            <a:pPr lvl="1">
              <a:defRPr sz="1800"/>
            </a:pPr>
            <a:r>
              <a:t>Baseline coordination established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Agreed Recommendations &amp;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Recommendations:</a:t>
            </a:r>
          </a:p>
          <a:p>
            <a:pPr lvl="1">
              <a:defRPr sz="1800"/>
            </a:pPr>
            <a:r>
              <a:t>Establish clear communication protocols</a:t>
            </a:r>
          </a:p>
          <a:p>
            <a:pPr lvl="1">
              <a:defRPr sz="1800"/>
            </a:pPr>
            <a:r>
              <a:t>Maintain open channels for coordination</a:t>
            </a:r>
          </a:p>
          <a:p>
            <a:pPr>
              <a:defRPr sz="1800"/>
            </a:pPr>
            <a:r>
              <a:t>Action Items:</a:t>
            </a:r>
          </a:p>
          <a:p>
            <a:pPr lvl="1">
              <a:defRPr sz="1800"/>
            </a:pPr>
            <a:r>
              <a:t>Status: Pending final action items from meeting</a:t>
            </a:r>
          </a:p>
          <a:p>
            <a:pPr lvl="1">
              <a:defRPr sz="1800"/>
            </a:pPr>
            <a:r>
              <a:t>Owner: TBD</a:t>
            </a:r>
          </a:p>
          <a:p>
            <a:pPr lvl="1">
              <a:defRPr sz="1800"/>
            </a:pPr>
            <a:r>
              <a:t>Due Date: TBD</a:t>
            </a:r>
          </a:p>
          <a:p>
            <a:pPr>
              <a:defRPr sz="1800"/>
            </a:pPr>
            <a:r>
              <a:t>Next Steps:</a:t>
            </a:r>
          </a:p>
          <a:p>
            <a:pPr lvl="1">
              <a:defRPr sz="1800"/>
            </a:pPr>
            <a:r>
              <a:t>Await detailed action item assignments</a:t>
            </a:r>
          </a:p>
          <a:p>
            <a:pPr lvl="1">
              <a:defRPr sz="1800"/>
            </a:pPr>
            <a:r>
              <a:t>Schedule follow-up coordination meeting</a:t>
            </a:r>
          </a:p>
          <a:p>
            <a:pPr lvl="1">
              <a:defRPr sz="1800"/>
            </a:pPr>
            <a:r>
              <a:t>Document final decisions and commitments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/>
            </a:pPr>
            <a:r>
              <a:t>Date: [Insert Date of Meeting]</a:t>
            </a:r>
            <a:br/>
            <a:r>
              <a:t>Time: [Insert Time of Meeting]</a:t>
            </a:r>
            <a:br/>
            <a:r>
              <a:t>Participants: Andrey Kerchin</a:t>
            </a:r>
            <a:br/>
            <a:br/>
            <a:r>
              <a:t>Key Decisions:</a:t>
            </a:r>
            <a:br/>
            <a:r>
              <a:t>• None explicitly stated in the provided transcript.</a:t>
            </a:r>
            <a:br/>
            <a:br/>
            <a:r>
              <a:t>Discussed Recommendations:</a:t>
            </a:r>
            <a:br/>
            <a:r>
              <a:t>• None explicitly stated in the provided transcript.</a:t>
            </a:r>
            <a:br/>
            <a:br/>
            <a:r>
              <a:t>Notes:</a:t>
            </a:r>
            <a:br/>
            <a:r>
              <a:t>The provided transcript consists solely of a sound check and connection test by Andrey Kerchin. No substantive discussion, decisions, recommendations, or action items were captured.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/>
            </a:pPr>
            <a:r>
              <a:t>Agreed Action Items:</a:t>
            </a:r>
            <a:br/>
            <a:r>
              <a:t>• None explicitly stated in the provided transcript.</a:t>
            </a:r>
            <a:br/>
            <a:br/>
            <a:r>
              <a:t>Status:</a:t>
            </a:r>
            <a:br/>
            <a:r>
              <a:t>The meeting did not result in any specific action items, as the discussion was limited to connection and audio testing.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Acode Color Pallete">
      <a:dk1>
        <a:srgbClr val="173242"/>
      </a:dk1>
      <a:lt1>
        <a:sysClr val="window" lastClr="FFFFFF"/>
      </a:lt1>
      <a:dk2>
        <a:srgbClr val="1F455E"/>
      </a:dk2>
      <a:lt2>
        <a:srgbClr val="F5F5FA"/>
      </a:lt2>
      <a:accent1>
        <a:srgbClr val="ED673F"/>
      </a:accent1>
      <a:accent2>
        <a:srgbClr val="ED673F"/>
      </a:accent2>
      <a:accent3>
        <a:srgbClr val="E4453A"/>
      </a:accent3>
      <a:accent4>
        <a:srgbClr val="285975"/>
      </a:accent4>
      <a:accent5>
        <a:srgbClr val="98D2EB"/>
      </a:accent5>
      <a:accent6>
        <a:srgbClr val="E1F2FE"/>
      </a:accent6>
      <a:hlink>
        <a:srgbClr val="F27242"/>
      </a:hlink>
      <a:folHlink>
        <a:srgbClr val="285975"/>
      </a:folHlink>
    </a:clrScheme>
    <a:fontScheme name="VIAcode Fon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Acode Presentation Template.potx" id="{F8C195C3-B816-4DF5-B3F5-E24DF8427A6F}" vid="{AC80B01F-F23F-4AF4-ABCB-D3731F9A51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B016FF-AE7E-499C-92B5-F691EDCF0A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6715FA-0DD9-45D6-8527-5F3C2CA0EE91}">
  <ds:schemaRefs>
    <ds:schemaRef ds:uri="911e9e99-66b6-4493-bc54-a9efbea5f7f5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bde16b2-0620-4858-810f-1b920fdeef80"/>
  </ds:schemaRefs>
</ds:datastoreItem>
</file>

<file path=customXml/itemProps3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244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Roboto SemiBold</vt:lpstr>
      <vt:lpstr>Roboto Bold</vt:lpstr>
      <vt:lpstr>Roboto</vt:lpstr>
      <vt:lpstr>Roboto Condensed</vt:lpstr>
      <vt:lpstr>Arial</vt:lpstr>
      <vt:lpstr>Roboto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Anatoly Butov</cp:lastModifiedBy>
  <cp:revision>6</cp:revision>
  <dcterms:created xsi:type="dcterms:W3CDTF">2017-02-07T16:52:31Z</dcterms:created>
  <dcterms:modified xsi:type="dcterms:W3CDTF">2026-02-13T14:20:16Z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