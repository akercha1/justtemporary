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554" r:id="rId13"/>
    <p:sldId id="901" r:id="rId35"/>
    <p:sldId id="902" r:id="rId36"/>
    <p:sldId id="903" r:id="rId37"/>
    <p:sldId id="904" r:id="rId38"/>
    <p:sldId id="905" r:id="rId39"/>
    <p:sldId id="906" r:id="rId40"/>
  </p:sldIdLst>
  <p:sldSz cx="12192000" cy="6858000"/>
  <p:notesSz cx="6858000" cy="9144000"/>
  <p:embeddedFontLst>
    <p:embeddedFont>
      <p:font typeface="Roboto" panose="02000000000000000000" pitchFamily="2" charset="0"/>
      <p:regular r:id="rId16"/>
      <p:bold r:id="rId17"/>
      <p:italic r:id="rId18"/>
      <p:boldItalic r:id="rId19"/>
    </p:embeddedFont>
    <p:embeddedFont>
      <p:font typeface="Roboto Bold" panose="020B0604020202020204" charset="0"/>
      <p:bold r:id="rId20"/>
    </p:embeddedFont>
    <p:embeddedFont>
      <p:font typeface="Roboto Condensed" panose="02000000000000000000" pitchFamily="2" charset="0"/>
      <p:regular r:id="rId21"/>
      <p:bold r:id="rId22"/>
      <p:italic r:id="rId23"/>
      <p:boldItalic r:id="rId24"/>
    </p:embeddedFont>
    <p:embeddedFont>
      <p:font typeface="Roboto Medium" panose="02000000000000000000" pitchFamily="2" charset="0"/>
      <p:regular r:id="rId25"/>
      <p:italic r:id="rId26"/>
    </p:embeddedFont>
    <p:embeddedFont>
      <p:font typeface="Roboto SemiBold" panose="020B0604020202020204" charset="0"/>
      <p:bold r:id="rId27"/>
      <p:boldItalic r:id="rId2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14" y="16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13.02.2026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svg"/><Relationship Id="rId4" Type="http://schemas.openxmlformats.org/officeDocument/2006/relationships/image" Target="../media/image9.png"/><Relationship Id="rId5" Type="http://schemas.openxmlformats.org/officeDocument/2006/relationships/image" Target="../media/image10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7732291" y="3013501"/>
            <a:ext cx="2615282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highlight>
                  <a:srgbClr val="FFFF00"/>
                </a:highlight>
                <a:latin typeface="Roboto SemiBold" panose="02000000000000000000" pitchFamily="2" charset="0"/>
                <a:ea typeface="Roboto SemiBold" panose="02000000000000000000" pitchFamily="2" charset="0"/>
              </a:rPr>
              <a:t>&lt;Customer team&gt;</a:t>
            </a:r>
            <a:endParaRPr lang="en-ZA" sz="1800" b="0" dirty="0">
              <a:highlight>
                <a:srgbClr val="FFFF00"/>
              </a:highlight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8371" y="54357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Eyebrow title --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Sheep and Goats Analysis</a:t>
            </a:r>
          </a:p>
        </p:txBody>
      </p:sp>
      <!-- Slide Title --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Meeting Summary</a:t>
            </a:r>
          </a:p>
        </p:txBody>
      </p:sp>
      <!-- Content body with bullet points --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517980" y="1400000"/>
            <a:ext cx="11000000" cy="4800000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rgbClr val="20465F"/>
                </a:solidFill>
                <a:latin typeface="Roboto" panose="02000000000000000000" pitchFamily="2" charset="0"/>
              </a:rPr>
              <a:t>Key Differentiating Factors: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Diet: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are grazers (grass, clover); Goats are browsers (leaves, shrubs, branches)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Physical Traits: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have wool and tails hang down; Goats have hair and tails point up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Behavior: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are flock animals that follow leaders; Goats are curious explorers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Farm Purpose: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for wool/meat; Goats for milk/meat/fiber and brush management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20465F"/>
                </a:solidFill>
                <a:latin typeface="Roboto" panose="02000000000000000000" pitchFamily="2" charset="0"/>
              </a:rPr>
              <a:t>Movement: </a:t>
            </a: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Sheep are steady and grounded; Goats are nimble climbers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800" b="1" dirty="0">
                <a:solidFill>
                  <a:srgbClr val="20465F"/>
                </a:solidFill>
                <a:latin typeface="Roboto" panose="02000000000000000000" pitchFamily="2" charset="0"/>
              </a:rPr>
              <a:t>Key Takeaways: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Grazers vs. Browsers: fundamental difference in feeding habits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Flock vs. Explorer Mentality: sheep stick together, goats explore individually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0465F"/>
                </a:solidFill>
                <a:latin typeface="Roboto" panose="02000000000000000000" pitchFamily="2" charset="0"/>
              </a:rPr>
              <a:t>Wool vs. Hair: common distinguishing feature of their coats</a:t>
            </a:r>
          </a:p>
        </p:txBody>
      </p:sp>
      <!-- Orange bottom bar -->
      <p:sp>
        <p:nvSpPr>
          <p:cNvPr id="5" name="Rectangle 4"/>
          <p:cNvSpPr/>
          <p:nvPr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en-Z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Eyebrow title --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en-US" dirty="0"/>
              <a:t>Sheep and Goats Analysis</a:t>
            </a:r>
          </a:p>
        </p:txBody>
      </p:sp>
      <!-- Slide Title --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Recommendations and Action Items</a:t>
            </a:r>
          </a:p>
        </p:txBody>
      </p:sp>
      <!-- Content body - Two columns -->
      <p:sp>
        <p:nvSpPr>
          <p:cNvPr id="4" name="Content Placeholder Left"/>
          <p:cNvSpPr>
            <a:spLocks noGrp="1"/>
          </p:cNvSpPr>
          <p:nvPr>
            <p:ph idx="1"/>
          </p:nvPr>
        </p:nvSpPr>
        <p:spPr>
          <a:xfrm>
            <a:off x="517980" y="1400000"/>
            <a:ext cx="5400000" cy="4800000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rgbClr val="F27242"/>
                </a:solidFill>
                <a:latin typeface="Roboto" panose="02000000000000000000" pitchFamily="2" charset="0"/>
              </a:rPr>
              <a:t>Agreed Recommendations</a:t>
            </a:r>
          </a:p>
          <a:p>
            <a:pPr marL="0" indent="0">
              <a:buNone/>
            </a:pPr>
            <a:endParaRPr lang="en-US" sz="800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Use visual identifiers: observe tail position, coat type, and facial features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Observe behavior patterns: flock vs. exploration tendencies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Match animal to purpose: sheep for wool/calm grazing, goats for personality/browsing/milk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Ensure proper nutrition, clean water, shelter, and parasite control for both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Use goats for brush clearing; sheep for pasture maintenance</a:t>
            </a: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Remember: goats test fences and can open latches - secure enclosures accordingly</a:t>
            </a:r>
          </a:p>
        </p:txBody>
      </p:sp>
      <!-- Right column - Action Items -->
      <p:sp>
        <p:nvSpPr>
          <p:cNvPr id="6" name="Content Placeholder Right"/>
          <p:cNvSpPr>
            <a:spLocks noGrp="1"/>
          </p:cNvSpPr>
          <p:nvPr>
            <p:ph idx="2"/>
          </p:nvPr>
        </p:nvSpPr>
        <p:spPr>
          <a:xfrm>
            <a:off x="6100000" y="1400000"/>
            <a:ext cx="5600000" cy="4800000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solidFill>
                  <a:srgbClr val="F27242"/>
                </a:solidFill>
                <a:latin typeface="Roboto" panose="02000000000000000000" pitchFamily="2" charset="0"/>
              </a:rPr>
              <a:t>Action Items</a:t>
            </a:r>
          </a:p>
          <a:p>
            <a:pPr marL="0" indent="0">
              <a:buNone/>
            </a:pPr>
            <a:endParaRPr lang="en-US" sz="800" dirty="0"/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Create identification guide with visual reference charts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Document breed-specific exceptions to general rules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Develop feeding protocols based on grazer/browser needs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Review and upgrade fencing for goat enclosures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Establish parasite control schedules for both species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Plan brush management areas for goat deployment</a:t>
            </a:r>
          </a:p>
          <a:p>
            <a:pPr marL="228600" indent="-228600">
              <a:buFont typeface="Wingdings" panose="05000000000000000000" pitchFamily="2" charset="2"/>
              <a:buChar char="¨"/>
            </a:pPr>
            <a:r>
              <a:rPr lang="en-US" sz="1400" dirty="0">
                <a:solidFill>
                  <a:srgbClr val="20465F"/>
                </a:solidFill>
                <a:latin typeface="Roboto" panose="02000000000000000000" pitchFamily="2" charset="0"/>
              </a:rPr>
              <a:t>Set up training session on animal behavior observation</a:t>
            </a:r>
          </a:p>
        </p:txBody>
      </p:sp>
      <!-- Orange bottom bar -->
      <p:sp>
        <p:nvSpPr>
          <p:cNvPr id="5" name="Rectangle 4"/>
          <p:cNvSpPr/>
          <p:nvPr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en-ZA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Meeting Summary: Sheep vs. Goats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  <a:p>
            <a:pPr>
              <a:defRPr b="1" sz="1400"/>
            </a:pPr>
            <a:r>
              <a:t>Dietary Habits</a:t>
            </a:r>
          </a:p>
          <a:p>
            <a:pPr lvl="1">
              <a:defRPr sz="1200"/>
            </a:pPr>
            <a:r>
              <a:t>Sheep are grazers; Goats are browsers (prefer higher vegetation)</a:t>
            </a:r>
          </a:p>
          <a:p>
            <a:pPr>
              <a:defRPr b="1" sz="1400"/>
            </a:pPr>
            <a:r>
              <a:t>Physical Features</a:t>
            </a:r>
          </a:p>
          <a:p>
            <a:pPr lvl="1">
              <a:defRPr sz="1200"/>
            </a:pPr>
            <a:r>
              <a:t>Sheep: wool, hanging tails; Goats: hair, upright tails, often beards</a:t>
            </a:r>
          </a:p>
          <a:p>
            <a:pPr>
              <a:defRPr b="1" sz="1400"/>
            </a:pPr>
            <a:r>
              <a:t>Behavior</a:t>
            </a:r>
          </a:p>
          <a:p>
            <a:pPr lvl="1">
              <a:defRPr sz="1200"/>
            </a:pPr>
            <a:r>
              <a:t>Sheep are flock animals; Goats are curious explorers</a:t>
            </a:r>
          </a:p>
          <a:p>
            <a:pPr>
              <a:defRPr b="1" sz="1400"/>
            </a:pPr>
            <a:r>
              <a:t>Vocalization</a:t>
            </a:r>
          </a:p>
          <a:p>
            <a:pPr lvl="1">
              <a:defRPr sz="1200"/>
            </a:pPr>
            <a:r>
              <a:t>Sheep 'baa'; Goats 'bleat' with raspier, attention-seeking sounds</a:t>
            </a:r>
          </a:p>
          <a:p>
            <a:pPr>
              <a:defRPr b="1" sz="1400"/>
            </a:pPr>
            <a:r>
              <a:t>Farm Purpose</a:t>
            </a:r>
          </a:p>
          <a:p>
            <a:pPr lvl="1">
              <a:defRPr sz="1200"/>
            </a:pPr>
            <a:r>
              <a:t>Sheep: wool, meat, milk; Goats: milk, meat, fiber, brush management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Recommendations &amp; Action Items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  <a:p>
            <a:pPr>
              <a:defRPr sz="1300"/>
            </a:pPr>
            <a:r>
              <a:t>Dietary Management: Provide appropriate nutrition, clean water, shelter, and parasite control</a:t>
            </a:r>
          </a:p>
          <a:p>
            <a:pPr>
              <a:defRPr sz="1300"/>
            </a:pPr>
            <a:r>
              <a:t>Behavioral Awareness: Sheep seek flock safety; goats explore and test boundaries</a:t>
            </a:r>
          </a:p>
          <a:p>
            <a:pPr>
              <a:defRPr sz="1300"/>
            </a:pPr>
            <a:r>
              <a:t>Movement Differences: Account for goats' climbing ability and sheep's preference for open spaces</a:t>
            </a:r>
          </a:p>
          <a:p>
            <a:pPr>
              <a:defRPr sz="1300"/>
            </a:pPr>
            <a:r>
              <a:t>Purpose-Driven Selection: Choose based on farm goals</a:t>
            </a:r>
          </a:p>
          <a:p>
            <a:pPr>
              <a:defRPr sz="1300"/>
            </a:pPr>
            <a:r>
              <a:t>Core Distinction: Sheep graze together; Goats browse and explore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defRPr sz="1400"/>
            </a:pPr>
            <a:r>
              <a:t>Conducted By: Andrey Kerchin</a:t>
            </a:r>
          </a:p>
          <a:p>
            <a:pPr>
              <a:defRPr sz="1400"/>
            </a:pPr>
            <a:r>
              <a:t>Purpose: Technical test - connection and meeting test verification</a:t>
            </a:r>
          </a:p>
          <a:p>
            <a:pPr/>
          </a:p>
          <a:p>
            <a:pPr>
              <a:defRPr sz="1400" b="1"/>
            </a:pPr>
            <a:r>
              <a:t>Key Discussion Points:</a:t>
            </a:r>
          </a:p>
          <a:p>
            <a:pPr lvl="1">
              <a:defRPr sz="1300"/>
            </a:pPr>
            <a:r>
              <a:t>Audio checks performed (111, 123123 проверка связи, Раз 23 раз, 23)</a:t>
            </a:r>
          </a:p>
          <a:p>
            <a:pPr lvl="1">
              <a:defRPr sz="1300"/>
            </a:pPr>
            <a:r>
              <a:t>Meeting test confirmation (Это проверка митинга)</a:t>
            </a:r>
          </a:p>
          <a:p>
            <a:pPr lvl="1">
              <a:defRPr sz="1300"/>
            </a:pPr>
            <a:r>
              <a:t>Name mentioned: Валентика t</a:t>
            </a:r>
          </a:p>
          <a:p>
            <a:pPr lvl="1">
              <a:defRPr sz="1300"/>
            </a:pPr>
            <a:r>
              <a:t>Brief unscripted test call to verify audio and meeting functionality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defRPr sz="1400" b="1"/>
            </a:pPr>
            <a:r>
              <a:t>Agreed Recommendations:</a:t>
            </a:r>
          </a:p>
          <a:p>
            <a:pPr lvl="1">
              <a:defRPr sz="1300"/>
            </a:pPr>
            <a:r>
              <a:t>None</a:t>
            </a:r>
          </a:p>
          <a:p>
            <a:pPr/>
          </a:p>
          <a:p>
            <a:pPr>
              <a:defRPr sz="1400" b="1"/>
            </a:pPr>
            <a:r>
              <a:t>Action Items:</a:t>
            </a:r>
          </a:p>
          <a:p>
            <a:pPr lvl="1">
              <a:defRPr sz="1300"/>
            </a:pPr>
            <a:r>
              <a:t>None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</TotalTime>
  <Words>244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Roboto SemiBold</vt:lpstr>
      <vt:lpstr>Roboto Bold</vt:lpstr>
      <vt:lpstr>Roboto</vt:lpstr>
      <vt:lpstr>Roboto Condensed</vt:lpstr>
      <vt:lpstr>Arial</vt:lpstr>
      <vt:lpstr>Roboto Medium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Anatoly Butov</cp:lastModifiedBy>
  <cp:revision>6</cp:revision>
  <dcterms:created xsi:type="dcterms:W3CDTF">2017-02-07T16:52:31Z</dcterms:created>
  <dcterms:modified xsi:type="dcterms:W3CDTF">2026-02-13T14:20:16Z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